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04D"/>
          </a:solidFill>
          <a:ln w="12700">
            <a:solidFill>
              <a:srgbClr val="1F304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5440680"/>
            <a:ext cx="2514600" cy="2011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Landing Zone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Control Tower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662940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8E1F0"/>
                </a:solidFill>
              </a:rPr>
              <a:t>Beginner-to-practical presentation based on what we learned: multi-account foundation, SSO access, Account Factory, security, and next steps.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</a:rPr>
              <a:t>Final slide includes: covered + left topics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0" y="1234440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7890B2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39328" y="1371600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04D"/>
                </a:solidFill>
              </a:rPr>
              <a:t>Management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22208" y="1892808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7890B2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1936" y="2029968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04D"/>
                </a:solidFill>
              </a:rPr>
              <a:t>Organizations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14816" y="2551176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7890B2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24544" y="2688336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04D"/>
                </a:solidFill>
              </a:rPr>
              <a:t>Control Tower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3209544"/>
            <a:ext cx="246888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7890B2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17152" y="3346704"/>
            <a:ext cx="2240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04D"/>
                </a:solidFill>
              </a:rPr>
              <a:t>Accounts + OUs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63093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5D7"/>
                </a:solidFill>
              </a:rPr>
              <a:t>Prepared for AWS Landing Zone learning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Landing Zone?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Problem -&gt; foundation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52120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Without a landing zone, one AWS account slowly becomes a shared room with production, testing, logs, admin users, and experiments mixed together.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" y="221284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D6778"/>
                </a:solidFill>
              </a:rPr>
              <a:t>The goal is not only account creation. The goal is safe multi-account operations.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078992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DEAEA"/>
          </a:solidFill>
          <a:ln w="12700">
            <a:solidFill>
              <a:srgbClr val="F3B1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3992" y="1188720"/>
            <a:ext cx="2048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3B3B"/>
                </a:solidFill>
              </a:rPr>
              <a:t>Single account chaos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23B3B"/>
                </a:solidFill>
              </a:rPr>
              <a:t>Dev + Test + Prod + Logs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6840" y="1554480"/>
            <a:ext cx="73152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875520" y="1078992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E8F6EF"/>
          </a:solidFill>
          <a:ln w="12700">
            <a:solidFill>
              <a:srgbClr val="A9D7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48672" y="1188720"/>
            <a:ext cx="172821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C62"/>
                </a:solidFill>
              </a:rPr>
              <a:t>Landing Zone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7C62"/>
                </a:solidFill>
              </a:rPr>
              <a:t>Separate accounts + governance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2DE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404164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Isolation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" y="43708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778"/>
                </a:solidFill>
              </a:rPr>
              <a:t>Dev mistake should not break production.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66160" y="388620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EAF2F8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404164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Access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30752" y="43708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778"/>
                </a:solidFill>
              </a:rPr>
              <a:t>SSO user gets only assigned accounts.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388620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FF2DE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404164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Logs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9672" y="43708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778"/>
                </a:solidFill>
              </a:rPr>
              <a:t>Audit/logs are centralized and protected.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0" y="388620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EAF2F8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53728" y="404164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08592" y="437083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778"/>
                </a:solidFill>
              </a:rPr>
              <a:t>Controls and SCPs reduce risky actions.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 Zone in One Picture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Management -&gt; OUs -&gt; accounts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Think of Landing Zone as the company-level AWS foundation.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40280" y="2084832"/>
            <a:ext cx="0" cy="612648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40280" y="3328416"/>
            <a:ext cx="-822960" cy="557784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40280" y="3328416"/>
            <a:ext cx="868680" cy="557784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40280" y="3328416"/>
            <a:ext cx="2743200" cy="557784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40280" y="3328416"/>
            <a:ext cx="4617720" cy="557784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40280" y="3328416"/>
            <a:ext cx="6492240" cy="557784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143000" y="1572768"/>
            <a:ext cx="2194560" cy="713232"/>
          </a:xfrm>
          <a:prstGeom prst="roundRect">
            <a:avLst>
              <a:gd name="adj" fmla="val 10256"/>
            </a:avLst>
          </a:prstGeom>
          <a:solidFill>
            <a:srgbClr val="1F304D"/>
          </a:solidFill>
          <a:ln w="12700">
            <a:solidFill>
              <a:srgbClr val="1F30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1682496"/>
            <a:ext cx="20482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Management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Account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274320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EAF2F8"/>
          </a:solidFill>
          <a:ln w="12700">
            <a:solidFill>
              <a:srgbClr val="B8CB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2852928"/>
            <a:ext cx="22311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04D"/>
                </a:solidFill>
              </a:rPr>
              <a:t>AWS Organizations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397764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8F6EF"/>
          </a:solidFill>
          <a:ln w="12700">
            <a:solidFill>
              <a:srgbClr val="A9D7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4087368"/>
            <a:ext cx="14996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7C62"/>
                </a:solidFill>
              </a:rPr>
              <a:t>Security 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A7C62"/>
                </a:solidFill>
              </a:rPr>
              <a:t>Audit + Log Archive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468880" y="397764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FF2DE"/>
          </a:solidFill>
          <a:ln w="12700">
            <a:solidFill>
              <a:srgbClr val="F6D5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4087368"/>
            <a:ext cx="14996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04D"/>
                </a:solidFill>
              </a:rPr>
              <a:t>Non-Prod 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304D"/>
                </a:solidFill>
              </a:rPr>
              <a:t>Dev + QA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97764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FE9E9"/>
          </a:solidFill>
          <a:ln w="12700">
            <a:solidFill>
              <a:srgbClr val="F2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16552" y="4087368"/>
            <a:ext cx="14996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B3B"/>
                </a:solidFill>
              </a:rPr>
              <a:t>Prod 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23B3B"/>
                </a:solidFill>
              </a:rPr>
              <a:t>Production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397764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4087368"/>
            <a:ext cx="14996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6778"/>
                </a:solidFill>
              </a:rPr>
              <a:t>Sandbox 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D6778"/>
                </a:solidFill>
              </a:rPr>
              <a:t>Learning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92440" y="397764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B8CB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65592" y="4087368"/>
            <a:ext cx="149961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4D79"/>
                </a:solidFill>
              </a:rPr>
              <a:t>Platform 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14D79"/>
                </a:solidFill>
              </a:rPr>
              <a:t>Network/Shared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012680" y="1600200"/>
            <a:ext cx="1600200" cy="3063240"/>
          </a:xfrm>
          <a:prstGeom prst="roundRect">
            <a:avLst>
              <a:gd name="adj" fmla="val 4571"/>
            </a:avLst>
          </a:prstGeom>
          <a:solidFill>
            <a:srgbClr val="1F304D"/>
          </a:solidFill>
          <a:ln w="12700">
            <a:solidFill>
              <a:srgbClr val="1F30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8128" y="187452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IAM Identity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Center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95560" y="2880360"/>
            <a:ext cx="12435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DF8"/>
                </a:solidFill>
              </a:rPr>
              <a:t>Users + groups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7EDF8"/>
                </a:solidFill>
              </a:rPr>
              <a:t>Permission sets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7EDF8"/>
                </a:solidFill>
              </a:rPr>
              <a:t>Access portal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548640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778"/>
                </a:solidFill>
              </a:rPr>
              <a:t>Control Tower governs the whole structure using account baselines, Account Factory, logging, and controls.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Control Tower Creates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Managed AWS foundation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Control Tower is not one small feature. It orchestrates several AWS services into a managed landing zone.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EAF2F8"/>
          </a:solidFill>
          <a:ln w="12700">
            <a:solidFill>
              <a:srgbClr val="D0DD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984248"/>
            <a:ext cx="2916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AWS Organizations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2532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778"/>
                </a:solidFill>
              </a:rPr>
              <a:t>Central account grouping and billing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1874520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E8F6EF"/>
          </a:solidFill>
          <a:ln w="12700">
            <a:solidFill>
              <a:srgbClr val="D0DD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984248"/>
            <a:ext cx="2916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Security OU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0872" y="2532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778"/>
                </a:solidFill>
              </a:rPr>
              <a:t>Audit + Log Archive accounts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EAF2F8"/>
          </a:solidFill>
          <a:ln w="12700">
            <a:solidFill>
              <a:srgbClr val="D0DD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984248"/>
            <a:ext cx="2916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IAM Identity Center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9912" y="25328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778"/>
                </a:solidFill>
              </a:rPr>
              <a:t>SSO users, groups, permission sets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291840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FFF2DE"/>
          </a:solidFill>
          <a:ln w="12700">
            <a:solidFill>
              <a:srgbClr val="D0DD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401568"/>
            <a:ext cx="2916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Account Factory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" y="39502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778"/>
                </a:solidFill>
              </a:rPr>
              <a:t>Standard way to create accounts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291840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EAF2F8"/>
          </a:solidFill>
          <a:ln w="12700">
            <a:solidFill>
              <a:srgbClr val="D0DD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401568"/>
            <a:ext cx="2916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Controls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90872" y="39502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778"/>
                </a:solidFill>
              </a:rPr>
              <a:t>Preventive, detective, proactive governance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75320" y="3291840"/>
            <a:ext cx="3063240" cy="475488"/>
          </a:xfrm>
          <a:prstGeom prst="roundRect">
            <a:avLst>
              <a:gd name="adj" fmla="val 15385"/>
            </a:avLst>
          </a:prstGeom>
          <a:solidFill>
            <a:srgbClr val="EAF2F8"/>
          </a:solidFill>
          <a:ln w="12700">
            <a:solidFill>
              <a:srgbClr val="D0DD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3401568"/>
            <a:ext cx="291693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Logging baseline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39912" y="39502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778"/>
                </a:solidFill>
              </a:rPr>
              <a:t>CloudTrail / Config foundation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55321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04D"/>
                </a:solidFill>
              </a:rPr>
              <a:t>Key takeaway: Control Tower reduces manual mistakes and gives a repeatable enterprise setup.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 Structure We Practiced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From fresh account to dev-sandbox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Start from one fresh account, then turn it into the Management Account for the organization.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20240" y="2331720"/>
            <a:ext cx="178308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40680" y="2331720"/>
            <a:ext cx="173736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15400" y="2331720"/>
            <a:ext cx="128016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" y="1901952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2700">
            <a:solidFill>
              <a:srgbClr val="B8CB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011680"/>
            <a:ext cx="1865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Fresh AWS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Account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0" y="1901952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1F304D"/>
          </a:solidFill>
          <a:ln w="12700">
            <a:solidFill>
              <a:srgbClr val="1F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2011680"/>
            <a:ext cx="1865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Control Tower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Landing Zone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1901952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E8F6EF"/>
          </a:solidFill>
          <a:ln w="12700">
            <a:solidFill>
              <a:srgbClr val="A9D7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011680"/>
            <a:ext cx="186537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7C62"/>
                </a:solidFill>
              </a:rPr>
              <a:t>Security OU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7C62"/>
                </a:solidFill>
              </a:rPr>
              <a:t>Audit + Logs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738360" y="1901952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2DE"/>
          </a:solidFill>
          <a:ln w="12700">
            <a:solidFill>
              <a:srgbClr val="F5CF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11512" y="2011680"/>
            <a:ext cx="168249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04D"/>
                </a:solidFill>
              </a:rPr>
              <a:t>Account Factory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04D"/>
                </a:solidFill>
              </a:rPr>
              <a:t>dev-sandbox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840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04D"/>
                </a:solidFill>
              </a:rPr>
              <a:t>Important learning from console: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8680" y="43434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FDEAEA"/>
          </a:solidFill>
          <a:ln w="12700">
            <a:solidFill>
              <a:srgbClr val="FDEAE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453128"/>
            <a:ext cx="3785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B3B"/>
                </a:solidFill>
              </a:rPr>
              <a:t>Root user cannot create Control Tower accounts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74920" y="4343400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EAF2F8"/>
          </a:solidFill>
          <a:ln w="12700">
            <a:solidFill>
              <a:srgbClr val="EAF2F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4453128"/>
            <a:ext cx="3602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04D"/>
                </a:solidFill>
              </a:rPr>
              <a:t>Use admin IAM user/role for account operations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52560" y="43434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FFF2DE"/>
          </a:solidFill>
          <a:ln w="12700">
            <a:solidFill>
              <a:srgbClr val="FFF2D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4453128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04D"/>
                </a:solidFill>
              </a:rPr>
              <a:t>Every AWS account needs a unique email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212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Example account name we discussed: dev-sandbox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IAM User vs IAM Identity Center User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Access model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This was one of the most important confusion points.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178308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FF2DE"/>
          </a:solidFill>
          <a:ln w="12700">
            <a:solidFill>
              <a:srgbClr val="F5C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892808"/>
            <a:ext cx="232257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04D"/>
                </a:solidFill>
              </a:rPr>
              <a:t>IAM User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22860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One AWS account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Direct IAM policies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Access keys possible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Good for limited legacy/service use cases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78308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F304D"/>
          </a:solidFill>
          <a:ln w="12700">
            <a:solidFill>
              <a:srgbClr val="1F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1892808"/>
            <a:ext cx="287121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IAM Identity Center User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2606040"/>
            <a:ext cx="27432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One access portal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Multiple AWS accounts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Permission sets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Best for human workforce access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06840" y="17830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12700">
            <a:solidFill>
              <a:srgbClr val="B8C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9992" y="1892808"/>
            <a:ext cx="20482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04D"/>
                </a:solidFill>
              </a:rPr>
              <a:t>Permission Set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0" y="2606040"/>
            <a:ext cx="19202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Reusable role template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AdministratorAccess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PowerUserAccess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778"/>
                </a:solidFill>
              </a:rPr>
              <a:t>ReadOnlyAccess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11880" y="2057400"/>
            <a:ext cx="758952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18120" y="2057400"/>
            <a:ext cx="978408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14400" y="53492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04D"/>
                </a:solidFill>
              </a:rPr>
              <a:t>Simple rule: for people, prefer IAM Identity Center. For specific service credentials, evaluate IAM user/role carefully.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 Factory Flow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Create account + assign access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Account Factory gives a standard path to create member accounts inside the landing zone.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81912" y="2971800"/>
            <a:ext cx="649224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76472" y="2971800"/>
            <a:ext cx="649224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71032" y="2971800"/>
            <a:ext cx="649224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65592" y="2971800"/>
            <a:ext cx="649224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16152" y="1828800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1975104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B8CB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761488"/>
            <a:ext cx="14996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04D"/>
                </a:solidFill>
              </a:rPr>
              <a:t>Open Control Tower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04D"/>
                </a:solidFill>
              </a:rPr>
              <a:t>Account factory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10712" y="1828800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1975104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8036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B8CB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3512" y="2761488"/>
            <a:ext cx="14996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04D"/>
                </a:solidFill>
              </a:rPr>
              <a:t>Enter account email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04D"/>
                </a:solidFill>
              </a:rPr>
              <a:t>+ display name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05272" y="1828800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1975104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7492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B8CB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2761488"/>
            <a:ext cx="14996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04D"/>
                </a:solidFill>
              </a:rPr>
              <a:t>Select OU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04D"/>
                </a:solidFill>
              </a:rPr>
              <a:t>Non-Prod/Sandbox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99832" y="1828800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1975104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6948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2700">
            <a:solidFill>
              <a:srgbClr val="B8CB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42632" y="2761488"/>
            <a:ext cx="14996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04D"/>
                </a:solidFill>
              </a:rPr>
              <a:t>Wait operation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04D"/>
                </a:solidFill>
              </a:rPr>
              <a:t>complete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994392" y="1828800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8128" y="1975104"/>
            <a:ext cx="2194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464040" y="265176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E8F6EF"/>
          </a:solidFill>
          <a:ln w="12700">
            <a:solidFill>
              <a:srgbClr val="A9D7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37192" y="2761488"/>
            <a:ext cx="14996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7C62"/>
                </a:solidFill>
              </a:rPr>
              <a:t>Assign SSO user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A7C62"/>
                </a:solidFill>
              </a:rPr>
              <a:t>+ permission set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D6778"/>
                </a:solidFill>
              </a:rPr>
              <a:t>Practical note: account operations can take time; wait before testing access.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&amp; Governance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Preventive, detective, proactive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Controls are the governance rules of the landing zone.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1920240"/>
            <a:ext cx="3017520" cy="960120"/>
          </a:xfrm>
          <a:prstGeom prst="chevron">
            <a:avLst/>
          </a:prstGeom>
          <a:solidFill>
            <a:srgbClr val="FDEAEA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762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3B3B"/>
                </a:solidFill>
              </a:rPr>
              <a:t>Preventive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33272" y="3273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Blocks risky 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06424" y="3840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778"/>
                </a:solidFill>
              </a:rPr>
              <a:t>Example: deny disabling logging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1920240"/>
            <a:ext cx="3017520" cy="960120"/>
          </a:xfrm>
          <a:prstGeom prst="chevron">
            <a:avLst/>
          </a:prstGeom>
          <a:solidFill>
            <a:srgbClr val="EAF2F8"/>
          </a:solidFill>
          <a:ln w="12700">
            <a:solidFill>
              <a:srgbClr val="1F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762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04D"/>
                </a:solidFill>
              </a:rPr>
              <a:t>Detective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82312" y="3273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Finds violation after it exists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55464" y="3840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778"/>
                </a:solidFill>
              </a:rPr>
              <a:t>Example: detect public S3 bucket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66760" y="1920240"/>
            <a:ext cx="3017520" cy="960120"/>
          </a:xfrm>
          <a:prstGeom prst="chevron">
            <a:avLst/>
          </a:prstGeom>
          <a:solidFill>
            <a:srgbClr val="E8F6EF"/>
          </a:solidFill>
          <a:ln w="12700">
            <a:solidFill>
              <a:srgbClr val="2A7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17627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7C62"/>
                </a:solidFill>
              </a:rPr>
              <a:t>Proactive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31352" y="32735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</a:rPr>
              <a:t>Checks before IaC creates resource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04504" y="38404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778"/>
                </a:solidFill>
              </a:rPr>
              <a:t>Example: block noncompliant CloudFormation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04D"/>
                </a:solidFill>
              </a:rPr>
              <a:t>SCPs are one strong preventive governance mechanism at AWS Organizations level.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Console Path We Followed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Beginner flow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Use this as your quick revision sequence.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2700">
            <a:solidFill>
              <a:srgbClr val="D4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856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1. Secure fresh account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21945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778"/>
                </a:solidFill>
              </a:rPr>
              <a:t>Root MFA, avoid root for daily work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 w="12700">
            <a:solidFill>
              <a:srgbClr val="D4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85623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2. Set up Control Tower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36792" y="21945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778"/>
                </a:solidFill>
              </a:rPr>
              <a:t>Create landing zone, Audit, Log Archive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914400" y="301752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2700">
            <a:solidFill>
              <a:srgbClr val="D4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18211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3. Open Account Factory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35204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778"/>
                </a:solidFill>
              </a:rPr>
              <a:t>Create dev-sandbox account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172200" y="301752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 w="12700">
            <a:solidFill>
              <a:srgbClr val="D4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318211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4. Create SSO user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36792" y="35204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778"/>
                </a:solidFill>
              </a:rPr>
              <a:t>IAM Identity Center user + group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14400" y="434340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2700">
            <a:solidFill>
              <a:srgbClr val="D4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5079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5. Assign permission set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4846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778"/>
                </a:solidFill>
              </a:rPr>
              <a:t>Administrator/PowerUser/ReadOnly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172200" y="434340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 w="12700">
            <a:solidFill>
              <a:srgbClr val="D4DC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45079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304D"/>
                </a:solidFill>
              </a:rPr>
              <a:t>6. Test access portal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36792" y="4846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D6778"/>
                </a:solidFill>
              </a:rPr>
              <a:t>Login to selected AWS account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Issues We Saw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Error -&gt; fix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These are practical beginner issues from the console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166420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DEAEA"/>
          </a:solidFill>
          <a:ln w="12700">
            <a:solidFill>
              <a:srgbClr val="F3B1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773936"/>
            <a:ext cx="16824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3B3B"/>
                </a:solidFill>
              </a:rPr>
              <a:t>Cannot create account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88920" y="1920240"/>
            <a:ext cx="73152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1664208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8F6EF"/>
          </a:solidFill>
          <a:ln w="12700">
            <a:solidFill>
              <a:srgbClr val="A9D7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1773936"/>
            <a:ext cx="1911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7C62"/>
                </a:solidFill>
              </a:rPr>
              <a:t>Use admin IAM user/role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2414016"/>
            <a:ext cx="4846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778"/>
                </a:solidFill>
              </a:rPr>
              <a:t>Signed in as root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55080" y="166420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DEAEA"/>
          </a:solidFill>
          <a:ln w="12700">
            <a:solidFill>
              <a:srgbClr val="F3B1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773936"/>
            <a:ext cx="16824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3B3B"/>
                </a:solidFill>
              </a:rPr>
              <a:t>SSO login error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66760" y="1920240"/>
            <a:ext cx="73152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235440" y="1664208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8F6EF"/>
          </a:solidFill>
          <a:ln w="12700">
            <a:solidFill>
              <a:srgbClr val="A9D7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773936"/>
            <a:ext cx="1911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7C62"/>
                </a:solidFill>
              </a:rPr>
              <a:t>Use Identity Center portal/reset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2414016"/>
            <a:ext cx="4846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778"/>
                </a:solidFill>
              </a:rPr>
              <a:t>Wrong password path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340156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DEAEA"/>
          </a:solidFill>
          <a:ln w="12700">
            <a:solidFill>
              <a:srgbClr val="F3B1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511296"/>
            <a:ext cx="16824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3B3B"/>
                </a:solidFill>
              </a:rPr>
              <a:t>User vs account confusion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788920" y="3657600"/>
            <a:ext cx="73152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57600" y="3401568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8F6EF"/>
          </a:solidFill>
          <a:ln w="12700">
            <a:solidFill>
              <a:srgbClr val="A9D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3511296"/>
            <a:ext cx="1911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7C62"/>
                </a:solidFill>
              </a:rPr>
              <a:t>Create account, then assign user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151376"/>
            <a:ext cx="4846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778"/>
                </a:solidFill>
              </a:rPr>
              <a:t>Account is container, user is identity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340156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FDEAEA"/>
          </a:solidFill>
          <a:ln w="12700">
            <a:solidFill>
              <a:srgbClr val="F3B1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3511296"/>
            <a:ext cx="16824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3B3B"/>
                </a:solidFill>
              </a:rPr>
              <a:t>Email already used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66760" y="3657600"/>
            <a:ext cx="731520" cy="0"/>
          </a:xfrm>
          <a:prstGeom prst="line">
            <a:avLst/>
          </a:prstGeom>
          <a:noFill/>
          <a:ln w="12700">
            <a:solidFill>
              <a:srgbClr val="FF990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35440" y="3401568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8F6EF"/>
          </a:solidFill>
          <a:ln w="12700">
            <a:solidFill>
              <a:srgbClr val="A9D7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08592" y="3511296"/>
            <a:ext cx="191109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A7C62"/>
                </a:solidFill>
              </a:rPr>
              <a:t>Use plus addressing safely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46520" y="4151376"/>
            <a:ext cx="4846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778"/>
                </a:solidFill>
              </a:rPr>
              <a:t>AWS account emails must be unique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68680" y="5623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04D"/>
                </a:solidFill>
              </a:rPr>
              <a:t>Best fix for most access issues: know which login you are using — root, IAM user, or IAM Identity Center.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Blueprint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Where this goes next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14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</a:rPr>
              <a:t>After the beginner setup, companies usually grow the landing zone with platform, security, network, and automation layers.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18208" y="1783080"/>
            <a:ext cx="7955280" cy="566928"/>
          </a:xfrm>
          <a:prstGeom prst="trapezoid">
            <a:avLst/>
          </a:prstGeom>
          <a:solidFill>
            <a:srgbClr val="EAF2F8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1088" y="1938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04D"/>
                </a:solidFill>
              </a:rPr>
              <a:t>Workloads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09848" y="1947672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304D"/>
                </a:solidFill>
              </a:rPr>
              <a:t>Dev / QA / Prod / Sandbox accounts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29688" y="2532888"/>
            <a:ext cx="7132320" cy="566928"/>
          </a:xfrm>
          <a:prstGeom prst="trapezoid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2568" y="26883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D6778"/>
                </a:solidFill>
              </a:rPr>
              <a:t>Platform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21328" y="2697480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6778"/>
                </a:solidFill>
              </a:rPr>
              <a:t>CI/CD roles, shared tools, artifact repos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41168" y="3282696"/>
            <a:ext cx="6309360" cy="566928"/>
          </a:xfrm>
          <a:prstGeom prst="trapezoid">
            <a:avLst/>
          </a:prstGeom>
          <a:solidFill>
            <a:srgbClr val="FFF2DE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4048" y="34381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04D"/>
                </a:solidFill>
              </a:rPr>
              <a:t>Network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32808" y="344728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304D"/>
                </a:solidFill>
              </a:rPr>
              <a:t>Shared VPC, Transit Gateway, DNS, VPN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52648" y="4032504"/>
            <a:ext cx="5486400" cy="566928"/>
          </a:xfrm>
          <a:prstGeom prst="trapezoid">
            <a:avLst/>
          </a:prstGeom>
          <a:solidFill>
            <a:srgbClr val="E8F6E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5528" y="4187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7C62"/>
                </a:solidFill>
              </a:rPr>
              <a:t>Security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44288" y="41970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A7C62"/>
                </a:solidFill>
              </a:rPr>
              <a:t>Audit, logs, Security Hub, GuardDuty, alerts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764128" y="4782312"/>
            <a:ext cx="4663440" cy="566928"/>
          </a:xfrm>
          <a:prstGeom prst="trapezoid">
            <a:avLst/>
          </a:prstGeom>
          <a:solidFill>
            <a:srgbClr val="1F304D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47008" y="4937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Governance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5768" y="49469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SCPs, controls, budget, tagging, compliance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58064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04D"/>
                </a:solidFill>
              </a:rPr>
              <a:t>Next practical milestone: make the setup repeatable with Terraform/AFT and define production-grade security guardrails.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6576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0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Last Page: Covered &amp; Left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366760" y="4297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D6778"/>
                </a:solidFill>
              </a:rPr>
              <a:t>Status summary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AWS Landing Zone / Control Tower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966960" y="648309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Learning guide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078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C62"/>
                </a:solidFill>
              </a:rPr>
              <a:t>Covered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1078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</a:rPr>
              <a:t>Left / Next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✓ Landing Zone concept and real-world example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✓ Management account, member accounts, OUs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✓ Control Tower setup and created accounts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✓ Account Factory and dev-sandbox flow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✓ IAM Identity Center / SSO and permission sets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✓ IAM user vs SSO user difference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✓ Basic SCPs and controls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4805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✓ Common console errors and fixes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16002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→ Custom SCP hands-on and OU policy design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201168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→ Network account, shared VPC, TGW, VPN, DNS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24231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→ Security Hub, GuardDuty, Config rules deep dive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283464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→ AFT / Terraform account vending automation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324612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→ Cross-account CI/CD deployment roles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36576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→ Budget, tagging, cost governance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406908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→ Production-grade operational runbooks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448056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</a:rPr>
              <a:t>→ Break-glass and onboarding/offboarding process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1143000"/>
            <a:ext cx="0" cy="3977640"/>
          </a:xfrm>
          <a:prstGeom prst="line">
            <a:avLst/>
          </a:prstGeom>
          <a:noFill/>
          <a:ln w="12700">
            <a:solidFill>
              <a:srgbClr val="C8D2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98932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8A94A6"/>
                </a:solidFill>
              </a:rPr>
              <a:t>References: AWS Control Tower User Guide, AWS Control Tower Controls Reference, AWS IAM Identity Center documentation.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Learning Artifact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Landing Zone &amp; Control Tower</dc:title>
  <dc:subject>AWS Landing Zone and Control Tower</dc:subject>
  <dc:creator>OpenAI</dc:creator>
  <cp:lastModifiedBy>OpenAI</cp:lastModifiedBy>
  <cp:revision>1</cp:revision>
  <dcterms:created xsi:type="dcterms:W3CDTF">2026-06-30T17:27:00Z</dcterms:created>
  <dcterms:modified xsi:type="dcterms:W3CDTF">2026-06-30T17:27:00Z</dcterms:modified>
</cp:coreProperties>
</file>